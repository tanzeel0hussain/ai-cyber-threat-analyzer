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FC9EE5F-7BBB-466D-8EFE-230195A13DE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819ABD-685E-4ED4-8818-35FCFFAB66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D0FB27-D7F9-48D3-8822-3EA68E0ADE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437A177-0058-406A-9315-6ED8060CA3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53C4494-3DA8-44C8-93F4-1AA2EC0334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87DFF0-79A5-4069-8C0E-43F7451164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79A84D-8E38-4876-9756-67F1DD27FF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FCB6CE-CA47-472C-90D3-E45B80CDA7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63DCF7-C85B-4726-96D7-D851C0145B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B909EF-8B12-43EB-BF8A-E581CEAE64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8D9107-9000-4EFA-A19C-22C17BA971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3.png"/><Relationship Id="rId9" Type="http://schemas.openxmlformats.org/officeDocument/2006/relationships/image" Target="../media/image2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2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0.png"/><Relationship Id="rId4" Type="http://schemas.openxmlformats.org/officeDocument/2006/relationships/image" Target="../media/image50.png"/><Relationship Id="rId5" Type="http://schemas.openxmlformats.org/officeDocument/2006/relationships/image" Target="../media/image50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1.png"/><Relationship Id="rId9" Type="http://schemas.openxmlformats.org/officeDocument/2006/relationships/image" Target="../media/image51.png"/><Relationship Id="rId10" Type="http://schemas.openxmlformats.org/officeDocument/2006/relationships/image" Target="../media/image51.png"/><Relationship Id="rId11" Type="http://schemas.openxmlformats.org/officeDocument/2006/relationships/image" Target="../media/image5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30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Image 1" descr="preencoded.png"/>
          <p:cNvPicPr/>
          <p:nvPr/>
        </p:nvPicPr>
        <p:blipFill>
          <a:blip r:embed="rId2"/>
          <a:stretch/>
        </p:blipFill>
        <p:spPr>
          <a:xfrm>
            <a:off x="6263640" y="502920"/>
            <a:ext cx="5577120" cy="557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0"/>
          <p:cNvSpPr/>
          <p:nvPr/>
        </p:nvSpPr>
        <p:spPr>
          <a:xfrm>
            <a:off x="685800" y="1874520"/>
            <a:ext cx="6400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ARTIFICIAL </a:t>
            </a:r>
            <a:r>
              <a:rPr lang="en-US" sz="1300" b="1" u="none" spc="300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INTELLIGENCE LAB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640080" y="2240280"/>
            <a:ext cx="73144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5601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AI</a:t>
            </a:r>
            <a:r>
              <a:rPr lang="en-US" sz="54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 in Cybersecurity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685800" y="3520440"/>
            <a:ext cx="6582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Detecting and </a:t>
            </a:r>
            <a:r>
              <a:rPr lang="en-US" sz="210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Preventing </a:t>
            </a:r>
            <a:r>
              <a:rPr lang="en-US" sz="210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Cyber Attacks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713160" y="4224240"/>
            <a:ext cx="1828800" cy="360"/>
          </a:xfrm>
          <a:prstGeom prst="line">
            <a:avLst/>
          </a:prstGeom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685800" y="5623560"/>
            <a:ext cx="54856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Presented by:  </a:t>
            </a:r>
            <a:r>
              <a:rPr lang="en-US" sz="14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Tanzeel Hussain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685800" y="5943600"/>
            <a:ext cx="6400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BS Computer Science  •  Artificial Intelligence Lab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pull dir="d"/>
      </p:transition>
    </mc:Choice>
    <mc:Fallback>
      <p:transition spd="slow">
        <p:pull dir="d"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 0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THE PROBLEM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30280" y="676800"/>
            <a:ext cx="10789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The Digital World Is Under Attack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548640" y="64738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1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AI IN CYBERSECURITY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10728720" y="64738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02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548640" y="1783080"/>
            <a:ext cx="3514680" cy="1233720"/>
          </a:xfrm>
          <a:prstGeom prst="roundRect">
            <a:avLst>
              <a:gd name="adj" fmla="val 6667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749880" y="2089440"/>
            <a:ext cx="621000" cy="621000"/>
          </a:xfrm>
          <a:prstGeom prst="ellipse">
            <a:avLst/>
          </a:prstGeom>
          <a:solidFill>
            <a:srgbClr val="2A1418"/>
          </a:solidFill>
          <a:ln w="15875">
            <a:solidFill>
              <a:srgbClr val="FF6B6B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1" descr="preencoded.png"/>
          <p:cNvPicPr/>
          <p:nvPr/>
        </p:nvPicPr>
        <p:blipFill>
          <a:blip r:embed="rId2"/>
          <a:stretch/>
        </p:blipFill>
        <p:spPr>
          <a:xfrm>
            <a:off x="896040" y="223560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6"/>
          <p:cNvSpPr/>
          <p:nvPr/>
        </p:nvSpPr>
        <p:spPr>
          <a:xfrm>
            <a:off x="1508760" y="1783080"/>
            <a:ext cx="24174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Phishing Attacks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4338360" y="1783080"/>
            <a:ext cx="3514680" cy="1233720"/>
          </a:xfrm>
          <a:prstGeom prst="roundRect">
            <a:avLst>
              <a:gd name="adj" fmla="val 6667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4539240" y="2089440"/>
            <a:ext cx="621000" cy="621000"/>
          </a:xfrm>
          <a:prstGeom prst="ellipse">
            <a:avLst/>
          </a:prstGeom>
          <a:solidFill>
            <a:srgbClr val="2A1418"/>
          </a:solidFill>
          <a:ln w="15875">
            <a:solidFill>
              <a:srgbClr val="FF6B6B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2" descr="preencoded.png"/>
          <p:cNvPicPr/>
          <p:nvPr/>
        </p:nvPicPr>
        <p:blipFill>
          <a:blip r:embed="rId3"/>
          <a:stretch/>
        </p:blipFill>
        <p:spPr>
          <a:xfrm>
            <a:off x="4685760" y="223560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9"/>
          <p:cNvSpPr/>
          <p:nvPr/>
        </p:nvSpPr>
        <p:spPr>
          <a:xfrm>
            <a:off x="5298480" y="1783080"/>
            <a:ext cx="24174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Malware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8127720" y="1783080"/>
            <a:ext cx="3514680" cy="1233720"/>
          </a:xfrm>
          <a:prstGeom prst="roundRect">
            <a:avLst>
              <a:gd name="adj" fmla="val 6667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8328960" y="2089440"/>
            <a:ext cx="621000" cy="621000"/>
          </a:xfrm>
          <a:prstGeom prst="ellipse">
            <a:avLst/>
          </a:prstGeom>
          <a:solidFill>
            <a:srgbClr val="2A1418"/>
          </a:solidFill>
          <a:ln w="15875">
            <a:solidFill>
              <a:srgbClr val="FF6B6B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3" descr="preencoded.png"/>
          <p:cNvPicPr/>
          <p:nvPr/>
        </p:nvPicPr>
        <p:blipFill>
          <a:blip r:embed="rId4"/>
          <a:stretch/>
        </p:blipFill>
        <p:spPr>
          <a:xfrm>
            <a:off x="8475120" y="223560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12"/>
          <p:cNvSpPr/>
          <p:nvPr/>
        </p:nvSpPr>
        <p:spPr>
          <a:xfrm>
            <a:off x="9087840" y="1783080"/>
            <a:ext cx="24174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Ransomware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548640" y="3291840"/>
            <a:ext cx="3514680" cy="1233720"/>
          </a:xfrm>
          <a:prstGeom prst="roundRect">
            <a:avLst>
              <a:gd name="adj" fmla="val 6667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4"/>
          <p:cNvSpPr/>
          <p:nvPr/>
        </p:nvSpPr>
        <p:spPr>
          <a:xfrm>
            <a:off x="749880" y="3598200"/>
            <a:ext cx="621000" cy="621000"/>
          </a:xfrm>
          <a:prstGeom prst="ellipse">
            <a:avLst/>
          </a:prstGeom>
          <a:solidFill>
            <a:srgbClr val="2A1418"/>
          </a:solidFill>
          <a:ln w="15875">
            <a:solidFill>
              <a:srgbClr val="FF6B6B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4" descr="preencoded.png"/>
          <p:cNvPicPr/>
          <p:nvPr/>
        </p:nvPicPr>
        <p:blipFill>
          <a:blip r:embed="rId5"/>
          <a:stretch/>
        </p:blipFill>
        <p:spPr>
          <a:xfrm>
            <a:off x="896040" y="374436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5"/>
          <p:cNvSpPr/>
          <p:nvPr/>
        </p:nvSpPr>
        <p:spPr>
          <a:xfrm>
            <a:off x="1508760" y="3291840"/>
            <a:ext cx="24174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Network Intrusions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4338360" y="3291840"/>
            <a:ext cx="3514680" cy="1233720"/>
          </a:xfrm>
          <a:prstGeom prst="roundRect">
            <a:avLst>
              <a:gd name="adj" fmla="val 6667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7"/>
          <p:cNvSpPr/>
          <p:nvPr/>
        </p:nvSpPr>
        <p:spPr>
          <a:xfrm>
            <a:off x="4539240" y="3598200"/>
            <a:ext cx="621000" cy="621000"/>
          </a:xfrm>
          <a:prstGeom prst="ellipse">
            <a:avLst/>
          </a:prstGeom>
          <a:solidFill>
            <a:srgbClr val="2A1418"/>
          </a:solidFill>
          <a:ln w="15875">
            <a:solidFill>
              <a:srgbClr val="FF6B6B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5" descr="preencoded.png"/>
          <p:cNvPicPr/>
          <p:nvPr/>
        </p:nvPicPr>
        <p:blipFill>
          <a:blip r:embed="rId6"/>
          <a:stretch/>
        </p:blipFill>
        <p:spPr>
          <a:xfrm>
            <a:off x="4685760" y="374436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18"/>
          <p:cNvSpPr/>
          <p:nvPr/>
        </p:nvSpPr>
        <p:spPr>
          <a:xfrm>
            <a:off x="5298480" y="3291840"/>
            <a:ext cx="24174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Identity Theft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8127720" y="3291840"/>
            <a:ext cx="3514680" cy="1233720"/>
          </a:xfrm>
          <a:prstGeom prst="roundRect">
            <a:avLst>
              <a:gd name="adj" fmla="val 6667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0"/>
          <p:cNvSpPr/>
          <p:nvPr/>
        </p:nvSpPr>
        <p:spPr>
          <a:xfrm>
            <a:off x="8328960" y="3598200"/>
            <a:ext cx="621000" cy="621000"/>
          </a:xfrm>
          <a:prstGeom prst="ellipse">
            <a:avLst/>
          </a:prstGeom>
          <a:solidFill>
            <a:srgbClr val="2A1418"/>
          </a:solidFill>
          <a:ln w="15875">
            <a:solidFill>
              <a:srgbClr val="FF6B6B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6" descr="preencoded.png"/>
          <p:cNvPicPr/>
          <p:nvPr/>
        </p:nvPicPr>
        <p:blipFill>
          <a:blip r:embed="rId7"/>
          <a:stretch/>
        </p:blipFill>
        <p:spPr>
          <a:xfrm>
            <a:off x="8475120" y="374436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21"/>
          <p:cNvSpPr/>
          <p:nvPr/>
        </p:nvSpPr>
        <p:spPr>
          <a:xfrm>
            <a:off x="9087840" y="3291840"/>
            <a:ext cx="24174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Online Fraud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548640" y="5029200"/>
            <a:ext cx="11093760" cy="913680"/>
          </a:xfrm>
          <a:prstGeom prst="roundRect">
            <a:avLst>
              <a:gd name="adj" fmla="val 9000"/>
            </a:avLst>
          </a:prstGeom>
          <a:solidFill>
            <a:srgbClr val="101B30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914400" y="5029200"/>
            <a:ext cx="10362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i="1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Cyber threats are becoming </a:t>
            </a:r>
            <a:r>
              <a:rPr lang="en-US" sz="1900" b="1" i="1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faster, smarter, and harder to detect.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0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530280" y="676800"/>
            <a:ext cx="10789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What Is Artificial Intelligence?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548640" y="64738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1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AI IN CYBERSECURITY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10728720" y="64738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03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548640" y="1691640"/>
            <a:ext cx="50284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Artificial Intelligence (AI) enables computer systems to learn from data, recognize patterns, and make intelligent decisions.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5"/>
          <p:cNvSpPr/>
          <p:nvPr/>
        </p:nvSpPr>
        <p:spPr>
          <a:xfrm>
            <a:off x="548640" y="2971800"/>
            <a:ext cx="456480" cy="456480"/>
          </a:xfrm>
          <a:prstGeom prst="ellipse">
            <a:avLst/>
          </a:prstGeom>
          <a:solidFill>
            <a:srgbClr val="101B30"/>
          </a:solidFill>
          <a:ln w="15875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1" descr="preencoded.png"/>
          <p:cNvPicPr/>
          <p:nvPr/>
        </p:nvPicPr>
        <p:blipFill>
          <a:blip r:embed="rId2"/>
          <a:stretch/>
        </p:blipFill>
        <p:spPr>
          <a:xfrm>
            <a:off x="658440" y="308160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6"/>
          <p:cNvSpPr/>
          <p:nvPr/>
        </p:nvSpPr>
        <p:spPr>
          <a:xfrm>
            <a:off x="1188720" y="2953440"/>
            <a:ext cx="4205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Learns from data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548640" y="3630240"/>
            <a:ext cx="456480" cy="456480"/>
          </a:xfrm>
          <a:prstGeom prst="ellipse">
            <a:avLst/>
          </a:prstGeom>
          <a:solidFill>
            <a:srgbClr val="101B30"/>
          </a:solidFill>
          <a:ln w="15875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2" descr="preencoded.png"/>
          <p:cNvPicPr/>
          <p:nvPr/>
        </p:nvPicPr>
        <p:blipFill>
          <a:blip r:embed="rId3"/>
          <a:stretch/>
        </p:blipFill>
        <p:spPr>
          <a:xfrm>
            <a:off x="658440" y="374004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8"/>
          <p:cNvSpPr/>
          <p:nvPr/>
        </p:nvSpPr>
        <p:spPr>
          <a:xfrm>
            <a:off x="1188720" y="3611880"/>
            <a:ext cx="4205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Recognizes patterns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548640" y="4288680"/>
            <a:ext cx="456480" cy="456480"/>
          </a:xfrm>
          <a:prstGeom prst="ellipse">
            <a:avLst/>
          </a:prstGeom>
          <a:solidFill>
            <a:srgbClr val="101B30"/>
          </a:solidFill>
          <a:ln w="15875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3" descr="preencoded.png"/>
          <p:cNvPicPr/>
          <p:nvPr/>
        </p:nvPicPr>
        <p:blipFill>
          <a:blip r:embed="rId4"/>
          <a:stretch/>
        </p:blipFill>
        <p:spPr>
          <a:xfrm>
            <a:off x="658440" y="439812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10"/>
          <p:cNvSpPr/>
          <p:nvPr/>
        </p:nvSpPr>
        <p:spPr>
          <a:xfrm>
            <a:off x="1188720" y="4270320"/>
            <a:ext cx="4205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Makes predictions or decisions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6126480" y="1600200"/>
            <a:ext cx="5515920" cy="4617000"/>
          </a:xfrm>
          <a:prstGeom prst="roundRect">
            <a:avLst>
              <a:gd name="adj" fmla="val 1782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2"/>
          <p:cNvSpPr/>
          <p:nvPr/>
        </p:nvSpPr>
        <p:spPr>
          <a:xfrm>
            <a:off x="8473320" y="1989000"/>
            <a:ext cx="822240" cy="822240"/>
          </a:xfrm>
          <a:prstGeom prst="ellipse">
            <a:avLst/>
          </a:prstGeom>
          <a:solidFill>
            <a:srgbClr val="0A1728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4" descr="preencoded.png"/>
          <p:cNvPicPr/>
          <p:nvPr/>
        </p:nvPicPr>
        <p:blipFill>
          <a:blip r:embed="rId5"/>
          <a:stretch/>
        </p:blipFill>
        <p:spPr>
          <a:xfrm>
            <a:off x="8695440" y="2211120"/>
            <a:ext cx="378000" cy="37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13"/>
          <p:cNvSpPr/>
          <p:nvPr/>
        </p:nvSpPr>
        <p:spPr>
          <a:xfrm>
            <a:off x="6400800" y="2834640"/>
            <a:ext cx="4967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pc="99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DATA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6400800" y="3136320"/>
            <a:ext cx="49672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Raw information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884440" y="3172680"/>
            <a:ext cx="9360" cy="347760"/>
          </a:xfrm>
          <a:prstGeom prst="line">
            <a:avLst/>
          </a:prstGeom>
          <a:ln w="19050">
            <a:solidFill>
              <a:srgbClr val="22D3EE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5000" rIns="468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8473320" y="3607200"/>
            <a:ext cx="822240" cy="822240"/>
          </a:xfrm>
          <a:prstGeom prst="ellipse">
            <a:avLst/>
          </a:prstGeom>
          <a:solidFill>
            <a:srgbClr val="0A1728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5" descr="preencoded.png"/>
          <p:cNvPicPr/>
          <p:nvPr/>
        </p:nvPicPr>
        <p:blipFill>
          <a:blip r:embed="rId6"/>
          <a:stretch/>
        </p:blipFill>
        <p:spPr>
          <a:xfrm>
            <a:off x="8695440" y="3829680"/>
            <a:ext cx="378000" cy="37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17"/>
          <p:cNvSpPr/>
          <p:nvPr/>
        </p:nvSpPr>
        <p:spPr>
          <a:xfrm>
            <a:off x="6400800" y="4453200"/>
            <a:ext cx="4967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pc="99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LEARN PATTERNS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6400800" y="4754880"/>
            <a:ext cx="49672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AI model training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8884440" y="4791240"/>
            <a:ext cx="9360" cy="347400"/>
          </a:xfrm>
          <a:prstGeom prst="line">
            <a:avLst/>
          </a:prstGeom>
          <a:ln w="19050">
            <a:solidFill>
              <a:srgbClr val="22D3EE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5000" rIns="468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0"/>
          <p:cNvSpPr/>
          <p:nvPr/>
        </p:nvSpPr>
        <p:spPr>
          <a:xfrm>
            <a:off x="8473320" y="5225760"/>
            <a:ext cx="822240" cy="822240"/>
          </a:xfrm>
          <a:prstGeom prst="ellipse">
            <a:avLst/>
          </a:prstGeom>
          <a:solidFill>
            <a:srgbClr val="0A1728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6" descr="preencoded.png"/>
          <p:cNvPicPr/>
          <p:nvPr/>
        </p:nvPicPr>
        <p:blipFill>
          <a:blip r:embed="rId7"/>
          <a:stretch/>
        </p:blipFill>
        <p:spPr>
          <a:xfrm>
            <a:off x="8695440" y="5447880"/>
            <a:ext cx="378000" cy="37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21"/>
          <p:cNvSpPr/>
          <p:nvPr/>
        </p:nvSpPr>
        <p:spPr>
          <a:xfrm>
            <a:off x="6400800" y="6071760"/>
            <a:ext cx="4967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pc="99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PREDICT / DECIDE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2"/>
          <p:cNvSpPr/>
          <p:nvPr/>
        </p:nvSpPr>
        <p:spPr>
          <a:xfrm>
            <a:off x="6400800" y="6373440"/>
            <a:ext cx="49672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Actionable output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randomBar dir="vert"/>
      </p:transition>
    </mc:Choice>
    <mc:Fallback>
      <p:transition spd="slow">
        <p:randomBar dir="vert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 0" descr="preencoded.png"/>
          <p:cNvPicPr/>
          <p:nvPr/>
        </p:nvPicPr>
        <p:blipFill>
          <a:blip r:embed="rId1"/>
          <a:stretch/>
        </p:blipFill>
        <p:spPr>
          <a:xfrm>
            <a:off x="0" y="3600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0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530280" y="676800"/>
            <a:ext cx="10789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What Is Cybersecurity?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548640" y="64738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1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AI IN CYBERSECURITY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10728720" y="64738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04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1463040" y="1481400"/>
            <a:ext cx="92347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Cybersecurity is the practice of protecting computers, networks, systems, and data from digital attacks and unauthorized access.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5222520" y="3104280"/>
            <a:ext cx="1745640" cy="1745640"/>
          </a:xfrm>
          <a:prstGeom prst="ellipse">
            <a:avLst/>
          </a:prstGeom>
          <a:solidFill>
            <a:srgbClr val="0A1E2A">
              <a:alpha val="85000"/>
            </a:srgbClr>
          </a:solidFill>
          <a:ln w="12700">
            <a:solidFill>
              <a:srgbClr val="22D3EE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5387040" y="3269160"/>
            <a:ext cx="1416600" cy="1416600"/>
          </a:xfrm>
          <a:prstGeom prst="ellipse">
            <a:avLst/>
          </a:prstGeom>
          <a:solidFill>
            <a:srgbClr val="0A1728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1" descr="preencoded.png"/>
          <p:cNvPicPr/>
          <p:nvPr/>
        </p:nvPicPr>
        <p:blipFill>
          <a:blip r:embed="rId2"/>
          <a:stretch/>
        </p:blipFill>
        <p:spPr>
          <a:xfrm>
            <a:off x="5727240" y="3609000"/>
            <a:ext cx="736200" cy="73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Shape 7"/>
          <p:cNvSpPr/>
          <p:nvPr/>
        </p:nvSpPr>
        <p:spPr>
          <a:xfrm>
            <a:off x="3740760" y="2743200"/>
            <a:ext cx="1745640" cy="914400"/>
          </a:xfrm>
          <a:prstGeom prst="line">
            <a:avLst/>
          </a:prstGeom>
          <a:ln w="15875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8"/>
          <p:cNvSpPr/>
          <p:nvPr/>
        </p:nvSpPr>
        <p:spPr>
          <a:xfrm>
            <a:off x="2963880" y="2354760"/>
            <a:ext cx="776520" cy="776520"/>
          </a:xfrm>
          <a:prstGeom prst="ellipse">
            <a:avLst/>
          </a:prstGeom>
          <a:solidFill>
            <a:srgbClr val="101B30"/>
          </a:solidFill>
          <a:ln w="15875">
            <a:solidFill>
              <a:srgbClr val="1E3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2" descr="preencoded.png"/>
          <p:cNvPicPr/>
          <p:nvPr/>
        </p:nvPicPr>
        <p:blipFill>
          <a:blip r:embed="rId3"/>
          <a:stretch/>
        </p:blipFill>
        <p:spPr>
          <a:xfrm>
            <a:off x="3173760" y="2564280"/>
            <a:ext cx="356760" cy="3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9"/>
          <p:cNvSpPr/>
          <p:nvPr/>
        </p:nvSpPr>
        <p:spPr>
          <a:xfrm>
            <a:off x="2346840" y="318204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99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COMPUTERS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 flipV="1">
            <a:off x="6629400" y="2743200"/>
            <a:ext cx="1820880" cy="685800"/>
          </a:xfrm>
          <a:prstGeom prst="line">
            <a:avLst/>
          </a:prstGeom>
          <a:ln w="15875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8450280" y="2354760"/>
            <a:ext cx="776520" cy="776520"/>
          </a:xfrm>
          <a:prstGeom prst="ellipse">
            <a:avLst/>
          </a:prstGeom>
          <a:solidFill>
            <a:srgbClr val="101B30"/>
          </a:solidFill>
          <a:ln w="15875">
            <a:solidFill>
              <a:srgbClr val="1E3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3" descr="preencoded.png"/>
          <p:cNvPicPr/>
          <p:nvPr/>
        </p:nvPicPr>
        <p:blipFill>
          <a:blip r:embed="rId4"/>
          <a:stretch/>
        </p:blipFill>
        <p:spPr>
          <a:xfrm>
            <a:off x="8660160" y="2564280"/>
            <a:ext cx="356760" cy="3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12"/>
          <p:cNvSpPr/>
          <p:nvPr/>
        </p:nvSpPr>
        <p:spPr>
          <a:xfrm>
            <a:off x="7833240" y="318204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99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NETWORKS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3"/>
          <p:cNvSpPr/>
          <p:nvPr/>
        </p:nvSpPr>
        <p:spPr>
          <a:xfrm flipV="1">
            <a:off x="3740760" y="4343400"/>
            <a:ext cx="1745640" cy="914400"/>
          </a:xfrm>
          <a:prstGeom prst="line">
            <a:avLst/>
          </a:prstGeom>
          <a:ln w="15875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2963880" y="4823640"/>
            <a:ext cx="776520" cy="776520"/>
          </a:xfrm>
          <a:prstGeom prst="ellipse">
            <a:avLst/>
          </a:prstGeom>
          <a:solidFill>
            <a:srgbClr val="101B30"/>
          </a:solidFill>
          <a:ln w="15875">
            <a:solidFill>
              <a:srgbClr val="1E3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4" descr="preencoded.png"/>
          <p:cNvPicPr/>
          <p:nvPr/>
        </p:nvPicPr>
        <p:blipFill>
          <a:blip r:embed="rId5"/>
          <a:stretch/>
        </p:blipFill>
        <p:spPr>
          <a:xfrm>
            <a:off x="3173760" y="5033160"/>
            <a:ext cx="356760" cy="3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15"/>
          <p:cNvSpPr/>
          <p:nvPr/>
        </p:nvSpPr>
        <p:spPr>
          <a:xfrm>
            <a:off x="2346840" y="565092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99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SYSTEMS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6"/>
          <p:cNvSpPr/>
          <p:nvPr/>
        </p:nvSpPr>
        <p:spPr>
          <a:xfrm>
            <a:off x="6627240" y="4509000"/>
            <a:ext cx="1830960" cy="748800"/>
          </a:xfrm>
          <a:prstGeom prst="line">
            <a:avLst/>
          </a:prstGeom>
          <a:ln w="15875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7"/>
          <p:cNvSpPr/>
          <p:nvPr/>
        </p:nvSpPr>
        <p:spPr>
          <a:xfrm>
            <a:off x="8450280" y="4823640"/>
            <a:ext cx="776520" cy="776520"/>
          </a:xfrm>
          <a:prstGeom prst="ellipse">
            <a:avLst/>
          </a:prstGeom>
          <a:solidFill>
            <a:srgbClr val="101B30"/>
          </a:solidFill>
          <a:ln w="15875">
            <a:solidFill>
              <a:srgbClr val="1E3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5" descr="preencoded.png"/>
          <p:cNvPicPr/>
          <p:nvPr/>
        </p:nvPicPr>
        <p:blipFill>
          <a:blip r:embed="rId6"/>
          <a:stretch/>
        </p:blipFill>
        <p:spPr>
          <a:xfrm>
            <a:off x="8660160" y="5033160"/>
            <a:ext cx="356760" cy="3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18"/>
          <p:cNvSpPr/>
          <p:nvPr/>
        </p:nvSpPr>
        <p:spPr>
          <a:xfrm>
            <a:off x="7833240" y="565092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99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DATA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9"/>
          <p:cNvSpPr/>
          <p:nvPr/>
        </p:nvSpPr>
        <p:spPr>
          <a:xfrm>
            <a:off x="746640" y="5989320"/>
            <a:ext cx="3382560" cy="502200"/>
          </a:xfrm>
          <a:prstGeom prst="roundRect">
            <a:avLst>
              <a:gd name="adj" fmla="val 50909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6" descr="preencoded.png"/>
          <p:cNvPicPr/>
          <p:nvPr/>
        </p:nvPicPr>
        <p:blipFill>
          <a:blip r:embed="rId7"/>
          <a:stretch/>
        </p:blipFill>
        <p:spPr>
          <a:xfrm>
            <a:off x="911160" y="6108120"/>
            <a:ext cx="26460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20"/>
          <p:cNvSpPr/>
          <p:nvPr/>
        </p:nvSpPr>
        <p:spPr>
          <a:xfrm>
            <a:off x="1276920" y="598932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Protect Data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1"/>
          <p:cNvSpPr/>
          <p:nvPr/>
        </p:nvSpPr>
        <p:spPr>
          <a:xfrm>
            <a:off x="4404240" y="5989320"/>
            <a:ext cx="3382560" cy="502200"/>
          </a:xfrm>
          <a:prstGeom prst="roundRect">
            <a:avLst>
              <a:gd name="adj" fmla="val 50909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7" descr="preencoded.png"/>
          <p:cNvPicPr/>
          <p:nvPr/>
        </p:nvPicPr>
        <p:blipFill>
          <a:blip r:embed="rId8"/>
          <a:stretch/>
        </p:blipFill>
        <p:spPr>
          <a:xfrm>
            <a:off x="4568760" y="6108120"/>
            <a:ext cx="26460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22"/>
          <p:cNvSpPr/>
          <p:nvPr/>
        </p:nvSpPr>
        <p:spPr>
          <a:xfrm>
            <a:off x="4934520" y="598932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Prevent Unauthorized Access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3"/>
          <p:cNvSpPr/>
          <p:nvPr/>
        </p:nvSpPr>
        <p:spPr>
          <a:xfrm>
            <a:off x="8061840" y="5989320"/>
            <a:ext cx="3382560" cy="502200"/>
          </a:xfrm>
          <a:prstGeom prst="roundRect">
            <a:avLst>
              <a:gd name="adj" fmla="val 50909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8" descr="preencoded.png"/>
          <p:cNvPicPr/>
          <p:nvPr/>
        </p:nvPicPr>
        <p:blipFill>
          <a:blip r:embed="rId9"/>
          <a:stretch/>
        </p:blipFill>
        <p:spPr>
          <a:xfrm>
            <a:off x="8226360" y="6108120"/>
            <a:ext cx="26460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24"/>
          <p:cNvSpPr/>
          <p:nvPr/>
        </p:nvSpPr>
        <p:spPr>
          <a:xfrm>
            <a:off x="8592120" y="598932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Keep Systems Secure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checker dir="vert"/>
      </p:transition>
    </mc:Choice>
    <mc:Fallback>
      <p:transition spd="slow">
        <p:checker dir="vert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0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THE SHIFT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530280" y="676800"/>
            <a:ext cx="10789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Why Do We Need AI in Cybersecurity?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548640" y="64738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1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AI IN CYBERSECURITY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10728720" y="64738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05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548640" y="153612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Modern attacks change behavior, generate huge volumes of data, and hide inside normal network activity.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548640" y="2240280"/>
            <a:ext cx="4708440" cy="3245400"/>
          </a:xfrm>
          <a:prstGeom prst="roundRect">
            <a:avLst>
              <a:gd name="adj" fmla="val 2535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868680" y="2514600"/>
            <a:ext cx="4068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TRADITIONAL SECURITY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868680" y="3108960"/>
            <a:ext cx="456480" cy="456480"/>
          </a:xfrm>
          <a:prstGeom prst="ellipse">
            <a:avLst/>
          </a:prstGeom>
          <a:solidFill>
            <a:srgbClr val="16202F"/>
          </a:solidFill>
          <a:ln w="12700">
            <a:solidFill>
              <a:srgbClr val="7C8C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age 1" descr="preencoded.png"/>
          <p:cNvPicPr/>
          <p:nvPr/>
        </p:nvPicPr>
        <p:blipFill>
          <a:blip r:embed="rId2"/>
          <a:stretch/>
        </p:blipFill>
        <p:spPr>
          <a:xfrm>
            <a:off x="978480" y="321876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8"/>
          <p:cNvSpPr/>
          <p:nvPr/>
        </p:nvSpPr>
        <p:spPr>
          <a:xfrm>
            <a:off x="1463040" y="3081600"/>
            <a:ext cx="3474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Rule-Based Detection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868680" y="3822120"/>
            <a:ext cx="456480" cy="456480"/>
          </a:xfrm>
          <a:prstGeom prst="ellipse">
            <a:avLst/>
          </a:prstGeom>
          <a:solidFill>
            <a:srgbClr val="16202F"/>
          </a:solidFill>
          <a:ln w="12700">
            <a:solidFill>
              <a:srgbClr val="7C8C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2" descr="preencoded.png"/>
          <p:cNvPicPr/>
          <p:nvPr/>
        </p:nvPicPr>
        <p:blipFill>
          <a:blip r:embed="rId3"/>
          <a:stretch/>
        </p:blipFill>
        <p:spPr>
          <a:xfrm>
            <a:off x="978480" y="393192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10"/>
          <p:cNvSpPr/>
          <p:nvPr/>
        </p:nvSpPr>
        <p:spPr>
          <a:xfrm>
            <a:off x="1463040" y="3794760"/>
            <a:ext cx="3474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Manual Analysis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1"/>
          <p:cNvSpPr/>
          <p:nvPr/>
        </p:nvSpPr>
        <p:spPr>
          <a:xfrm>
            <a:off x="868680" y="4535280"/>
            <a:ext cx="456480" cy="456480"/>
          </a:xfrm>
          <a:prstGeom prst="ellipse">
            <a:avLst/>
          </a:prstGeom>
          <a:solidFill>
            <a:srgbClr val="16202F"/>
          </a:solidFill>
          <a:ln w="12700">
            <a:solidFill>
              <a:srgbClr val="7C8C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3" descr="preencoded.png"/>
          <p:cNvPicPr/>
          <p:nvPr/>
        </p:nvPicPr>
        <p:blipFill>
          <a:blip r:embed="rId4"/>
          <a:stretch/>
        </p:blipFill>
        <p:spPr>
          <a:xfrm>
            <a:off x="978480" y="464508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12"/>
          <p:cNvSpPr/>
          <p:nvPr/>
        </p:nvSpPr>
        <p:spPr>
          <a:xfrm>
            <a:off x="1463040" y="4507920"/>
            <a:ext cx="3474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Known Threats Only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4" descr="preencoded.png"/>
          <p:cNvPicPr/>
          <p:nvPr/>
        </p:nvPicPr>
        <p:blipFill>
          <a:blip r:embed="rId5"/>
          <a:stretch/>
        </p:blipFill>
        <p:spPr>
          <a:xfrm>
            <a:off x="5486400" y="354348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Shape 13"/>
          <p:cNvSpPr/>
          <p:nvPr/>
        </p:nvSpPr>
        <p:spPr>
          <a:xfrm>
            <a:off x="6933960" y="2240280"/>
            <a:ext cx="4708440" cy="3245400"/>
          </a:xfrm>
          <a:prstGeom prst="roundRect">
            <a:avLst>
              <a:gd name="adj" fmla="val 2535"/>
            </a:avLst>
          </a:prstGeom>
          <a:solidFill>
            <a:srgbClr val="0A1E26"/>
          </a:solidFill>
          <a:ln w="19050">
            <a:solidFill>
              <a:srgbClr val="22D3EE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7254000" y="2514600"/>
            <a:ext cx="4068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AI-POWERED SECURITY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5"/>
          <p:cNvSpPr/>
          <p:nvPr/>
        </p:nvSpPr>
        <p:spPr>
          <a:xfrm>
            <a:off x="7254000" y="3108960"/>
            <a:ext cx="456480" cy="456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5" descr="preencoded.png"/>
          <p:cNvPicPr/>
          <p:nvPr/>
        </p:nvPicPr>
        <p:blipFill>
          <a:blip r:embed="rId6"/>
          <a:stretch/>
        </p:blipFill>
        <p:spPr>
          <a:xfrm>
            <a:off x="7363800" y="321876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16"/>
          <p:cNvSpPr/>
          <p:nvPr/>
        </p:nvSpPr>
        <p:spPr>
          <a:xfrm>
            <a:off x="7848360" y="3081600"/>
            <a:ext cx="3474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Pattern Recognition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7"/>
          <p:cNvSpPr/>
          <p:nvPr/>
        </p:nvSpPr>
        <p:spPr>
          <a:xfrm>
            <a:off x="7254000" y="3822120"/>
            <a:ext cx="456480" cy="456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6" descr="preencoded.png"/>
          <p:cNvPicPr/>
          <p:nvPr/>
        </p:nvPicPr>
        <p:blipFill>
          <a:blip r:embed="rId7"/>
          <a:stretch/>
        </p:blipFill>
        <p:spPr>
          <a:xfrm>
            <a:off x="7363800" y="393192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18"/>
          <p:cNvSpPr/>
          <p:nvPr/>
        </p:nvSpPr>
        <p:spPr>
          <a:xfrm>
            <a:off x="7848360" y="3794760"/>
            <a:ext cx="3474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Automated Analysis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7254000" y="4535280"/>
            <a:ext cx="456480" cy="456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7" descr="preencoded.png"/>
          <p:cNvPicPr/>
          <p:nvPr/>
        </p:nvPicPr>
        <p:blipFill>
          <a:blip r:embed="rId8"/>
          <a:stretch/>
        </p:blipFill>
        <p:spPr>
          <a:xfrm>
            <a:off x="7363800" y="464508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20"/>
          <p:cNvSpPr/>
          <p:nvPr/>
        </p:nvSpPr>
        <p:spPr>
          <a:xfrm>
            <a:off x="7848360" y="4507920"/>
            <a:ext cx="3474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Anomaly Detection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1"/>
          <p:cNvSpPr/>
          <p:nvPr/>
        </p:nvSpPr>
        <p:spPr>
          <a:xfrm>
            <a:off x="548640" y="5806440"/>
            <a:ext cx="11063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i="1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AI can analyze large volumes of security data and identify suspicious patterns </a:t>
            </a:r>
            <a:r>
              <a:rPr lang="en-US" sz="1450" b="1" i="1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much faster</a:t>
            </a:r>
            <a:r>
              <a:rPr lang="en-US" sz="1450" b="0" i="1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 than manual review.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0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DETECTION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530280" y="676800"/>
            <a:ext cx="10789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How Does AI Detect a Cyber Attack?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548640" y="64738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1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AI IN CYBERSECURITY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10728720" y="64738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06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1463040" y="1965960"/>
            <a:ext cx="1630440" cy="9000"/>
          </a:xfrm>
          <a:prstGeom prst="line">
            <a:avLst/>
          </a:prstGeom>
          <a:ln w="25400">
            <a:solidFill>
              <a:srgbClr val="22D3EE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4007880" y="1965960"/>
            <a:ext cx="1630440" cy="9000"/>
          </a:xfrm>
          <a:prstGeom prst="line">
            <a:avLst/>
          </a:prstGeom>
          <a:ln w="25400">
            <a:solidFill>
              <a:srgbClr val="22D3EE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6"/>
          <p:cNvSpPr/>
          <p:nvPr/>
        </p:nvSpPr>
        <p:spPr>
          <a:xfrm>
            <a:off x="6552720" y="1965960"/>
            <a:ext cx="1630800" cy="9000"/>
          </a:xfrm>
          <a:prstGeom prst="line">
            <a:avLst/>
          </a:prstGeom>
          <a:ln w="25400">
            <a:solidFill>
              <a:srgbClr val="22D3EE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7"/>
          <p:cNvSpPr/>
          <p:nvPr/>
        </p:nvSpPr>
        <p:spPr>
          <a:xfrm>
            <a:off x="9097920" y="1965960"/>
            <a:ext cx="1630440" cy="9000"/>
          </a:xfrm>
          <a:prstGeom prst="line">
            <a:avLst/>
          </a:prstGeom>
          <a:ln w="25400">
            <a:solidFill>
              <a:srgbClr val="22D3EE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8"/>
          <p:cNvSpPr/>
          <p:nvPr/>
        </p:nvSpPr>
        <p:spPr>
          <a:xfrm>
            <a:off x="548640" y="1508760"/>
            <a:ext cx="913680" cy="913680"/>
          </a:xfrm>
          <a:prstGeom prst="ellipse">
            <a:avLst/>
          </a:prstGeom>
          <a:solidFill>
            <a:srgbClr val="0A1728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1" descr="preencoded.png"/>
          <p:cNvPicPr/>
          <p:nvPr/>
        </p:nvPicPr>
        <p:blipFill>
          <a:blip r:embed="rId2"/>
          <a:stretch/>
        </p:blipFill>
        <p:spPr>
          <a:xfrm>
            <a:off x="749880" y="171000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9"/>
          <p:cNvSpPr/>
          <p:nvPr/>
        </p:nvSpPr>
        <p:spPr>
          <a:xfrm>
            <a:off x="1371600" y="1334880"/>
            <a:ext cx="456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228600" y="2532960"/>
            <a:ext cx="1553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Collect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Data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1"/>
          <p:cNvSpPr/>
          <p:nvPr/>
        </p:nvSpPr>
        <p:spPr>
          <a:xfrm>
            <a:off x="3093480" y="1508760"/>
            <a:ext cx="913680" cy="913680"/>
          </a:xfrm>
          <a:prstGeom prst="ellipse">
            <a:avLst/>
          </a:prstGeom>
          <a:solidFill>
            <a:srgbClr val="0A1728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2" descr="preencoded.png"/>
          <p:cNvPicPr/>
          <p:nvPr/>
        </p:nvPicPr>
        <p:blipFill>
          <a:blip r:embed="rId3"/>
          <a:stretch/>
        </p:blipFill>
        <p:spPr>
          <a:xfrm>
            <a:off x="3294720" y="171000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12"/>
          <p:cNvSpPr/>
          <p:nvPr/>
        </p:nvSpPr>
        <p:spPr>
          <a:xfrm>
            <a:off x="3886200" y="13716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2773440" y="2532960"/>
            <a:ext cx="1553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Analyze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Activity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4"/>
          <p:cNvSpPr/>
          <p:nvPr/>
        </p:nvSpPr>
        <p:spPr>
          <a:xfrm>
            <a:off x="5638680" y="1508760"/>
            <a:ext cx="913680" cy="913680"/>
          </a:xfrm>
          <a:prstGeom prst="ellipse">
            <a:avLst/>
          </a:prstGeom>
          <a:solidFill>
            <a:srgbClr val="0A1728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1" name="Image 3" descr="preencoded.png"/>
          <p:cNvPicPr/>
          <p:nvPr/>
        </p:nvPicPr>
        <p:blipFill>
          <a:blip r:embed="rId4"/>
          <a:stretch/>
        </p:blipFill>
        <p:spPr>
          <a:xfrm>
            <a:off x="5839920" y="171000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 15"/>
          <p:cNvSpPr/>
          <p:nvPr/>
        </p:nvSpPr>
        <p:spPr>
          <a:xfrm>
            <a:off x="6400800" y="13716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5318640" y="2532960"/>
            <a:ext cx="1553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Learn Normal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Patterns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7"/>
          <p:cNvSpPr/>
          <p:nvPr/>
        </p:nvSpPr>
        <p:spPr>
          <a:xfrm>
            <a:off x="8183520" y="1508760"/>
            <a:ext cx="913680" cy="913680"/>
          </a:xfrm>
          <a:prstGeom prst="ellipse">
            <a:avLst/>
          </a:prstGeom>
          <a:solidFill>
            <a:srgbClr val="2A1C0A"/>
          </a:solidFill>
          <a:ln w="25400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4" descr="preencoded.png"/>
          <p:cNvPicPr/>
          <p:nvPr/>
        </p:nvPicPr>
        <p:blipFill>
          <a:blip r:embed="rId5"/>
          <a:stretch/>
        </p:blipFill>
        <p:spPr>
          <a:xfrm>
            <a:off x="8384760" y="171000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18"/>
          <p:cNvSpPr/>
          <p:nvPr/>
        </p:nvSpPr>
        <p:spPr>
          <a:xfrm>
            <a:off x="8915400" y="13716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9"/>
          <p:cNvSpPr/>
          <p:nvPr/>
        </p:nvSpPr>
        <p:spPr>
          <a:xfrm>
            <a:off x="7863480" y="2532960"/>
            <a:ext cx="1553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Detect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Anomalies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0"/>
          <p:cNvSpPr/>
          <p:nvPr/>
        </p:nvSpPr>
        <p:spPr>
          <a:xfrm>
            <a:off x="10728720" y="1508760"/>
            <a:ext cx="913680" cy="913680"/>
          </a:xfrm>
          <a:prstGeom prst="ellipse">
            <a:avLst/>
          </a:prstGeom>
          <a:solidFill>
            <a:srgbClr val="0A1728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9" name="Image 5" descr="preencoded.png"/>
          <p:cNvPicPr/>
          <p:nvPr/>
        </p:nvPicPr>
        <p:blipFill>
          <a:blip r:embed="rId6"/>
          <a:stretch/>
        </p:blipFill>
        <p:spPr>
          <a:xfrm>
            <a:off x="10929960" y="171000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ext 21"/>
          <p:cNvSpPr/>
          <p:nvPr/>
        </p:nvSpPr>
        <p:spPr>
          <a:xfrm>
            <a:off x="11430000" y="13716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2"/>
          <p:cNvSpPr/>
          <p:nvPr/>
        </p:nvSpPr>
        <p:spPr>
          <a:xfrm>
            <a:off x="10408680" y="2532960"/>
            <a:ext cx="1553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Generate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Alert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3"/>
          <p:cNvSpPr/>
          <p:nvPr/>
        </p:nvSpPr>
        <p:spPr>
          <a:xfrm>
            <a:off x="548640" y="4160520"/>
            <a:ext cx="3514680" cy="1965240"/>
          </a:xfrm>
          <a:prstGeom prst="roundRect">
            <a:avLst>
              <a:gd name="adj" fmla="val 4186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3" name="Image 6" descr="preencoded.png"/>
          <p:cNvPicPr/>
          <p:nvPr/>
        </p:nvPicPr>
        <p:blipFill>
          <a:blip r:embed="rId7"/>
          <a:stretch/>
        </p:blipFill>
        <p:spPr>
          <a:xfrm>
            <a:off x="822960" y="4416480"/>
            <a:ext cx="310320" cy="31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 24"/>
          <p:cNvSpPr/>
          <p:nvPr/>
        </p:nvSpPr>
        <p:spPr>
          <a:xfrm>
            <a:off x="1261800" y="4380120"/>
            <a:ext cx="26002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99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NORMAL BEHAVIOR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5"/>
          <p:cNvSpPr/>
          <p:nvPr/>
        </p:nvSpPr>
        <p:spPr>
          <a:xfrm>
            <a:off x="822960" y="4910400"/>
            <a:ext cx="2966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User usually logs in from the same location and during normal working hours.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6"/>
          <p:cNvSpPr/>
          <p:nvPr/>
        </p:nvSpPr>
        <p:spPr>
          <a:xfrm>
            <a:off x="4338360" y="4160520"/>
            <a:ext cx="3514680" cy="1965240"/>
          </a:xfrm>
          <a:prstGeom prst="roundRect">
            <a:avLst>
              <a:gd name="adj" fmla="val 4186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7" name="Image 7" descr="preencoded.png"/>
          <p:cNvPicPr/>
          <p:nvPr/>
        </p:nvPicPr>
        <p:blipFill>
          <a:blip r:embed="rId8"/>
          <a:stretch/>
        </p:blipFill>
        <p:spPr>
          <a:xfrm>
            <a:off x="4612680" y="4416480"/>
            <a:ext cx="310320" cy="31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 27"/>
          <p:cNvSpPr/>
          <p:nvPr/>
        </p:nvSpPr>
        <p:spPr>
          <a:xfrm>
            <a:off x="5051520" y="4380120"/>
            <a:ext cx="26002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99" strike="noStrike">
                <a:solidFill>
                  <a:srgbClr val="FFB454"/>
                </a:solidFill>
                <a:effectLst/>
                <a:uFillTx/>
                <a:latin typeface="Calibri"/>
                <a:ea typeface="Calibri"/>
              </a:rPr>
              <a:t>SUSPICIOUS BEHAVIOR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8"/>
          <p:cNvSpPr/>
          <p:nvPr/>
        </p:nvSpPr>
        <p:spPr>
          <a:xfrm>
            <a:off x="4612680" y="4910400"/>
            <a:ext cx="2966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A sudden unusual login or abnormal activity is detected on the account.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9"/>
          <p:cNvSpPr/>
          <p:nvPr/>
        </p:nvSpPr>
        <p:spPr>
          <a:xfrm>
            <a:off x="8127720" y="4160520"/>
            <a:ext cx="3514680" cy="1965240"/>
          </a:xfrm>
          <a:prstGeom prst="roundRect">
            <a:avLst>
              <a:gd name="adj" fmla="val 4186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" name="Image 8" descr="preencoded.png"/>
          <p:cNvPicPr/>
          <p:nvPr/>
        </p:nvPicPr>
        <p:blipFill>
          <a:blip r:embed="rId9"/>
          <a:stretch/>
        </p:blipFill>
        <p:spPr>
          <a:xfrm>
            <a:off x="8402040" y="4416480"/>
            <a:ext cx="310320" cy="31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 30"/>
          <p:cNvSpPr/>
          <p:nvPr/>
        </p:nvSpPr>
        <p:spPr>
          <a:xfrm>
            <a:off x="8840880" y="4380120"/>
            <a:ext cx="26002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99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AI RESPONSE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1"/>
          <p:cNvSpPr/>
          <p:nvPr/>
        </p:nvSpPr>
        <p:spPr>
          <a:xfrm>
            <a:off x="8402040" y="4910400"/>
            <a:ext cx="2966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AI flags the activity as potentially suspicious and raises an alert.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glitter dir="l" pattern="hexago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0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APPLICATIONS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530280" y="676800"/>
            <a:ext cx="10789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Where Is AI Used in Cybersecurity?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548640" y="64738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1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AI IN CYBERSECURITY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10728720" y="64738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07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4"/>
          <p:cNvSpPr/>
          <p:nvPr/>
        </p:nvSpPr>
        <p:spPr>
          <a:xfrm>
            <a:off x="548640" y="1600200"/>
            <a:ext cx="5386320" cy="2148120"/>
          </a:xfrm>
          <a:prstGeom prst="roundRect">
            <a:avLst>
              <a:gd name="adj" fmla="val 3830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5"/>
          <p:cNvSpPr/>
          <p:nvPr/>
        </p:nvSpPr>
        <p:spPr>
          <a:xfrm>
            <a:off x="841320" y="1892880"/>
            <a:ext cx="639360" cy="6393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Image 1" descr="preencoded.png"/>
          <p:cNvPicPr/>
          <p:nvPr/>
        </p:nvPicPr>
        <p:blipFill>
          <a:blip r:embed="rId2"/>
          <a:stretch/>
        </p:blipFill>
        <p:spPr>
          <a:xfrm>
            <a:off x="996840" y="204840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6"/>
          <p:cNvSpPr/>
          <p:nvPr/>
        </p:nvSpPr>
        <p:spPr>
          <a:xfrm>
            <a:off x="1645920" y="1911240"/>
            <a:ext cx="4014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Phishing Detection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868680" y="2697480"/>
            <a:ext cx="4746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AI analyzes suspicious emails, links, and patterns to help identify phishing attempts.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6255720" y="1600200"/>
            <a:ext cx="5386320" cy="2148120"/>
          </a:xfrm>
          <a:prstGeom prst="roundRect">
            <a:avLst>
              <a:gd name="adj" fmla="val 3830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9"/>
          <p:cNvSpPr/>
          <p:nvPr/>
        </p:nvSpPr>
        <p:spPr>
          <a:xfrm>
            <a:off x="6548400" y="1892880"/>
            <a:ext cx="639360" cy="6393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2" descr="preencoded.png"/>
          <p:cNvPicPr/>
          <p:nvPr/>
        </p:nvPicPr>
        <p:blipFill>
          <a:blip r:embed="rId3"/>
          <a:stretch/>
        </p:blipFill>
        <p:spPr>
          <a:xfrm>
            <a:off x="6703920" y="204840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10"/>
          <p:cNvSpPr/>
          <p:nvPr/>
        </p:nvSpPr>
        <p:spPr>
          <a:xfrm>
            <a:off x="7353000" y="1911240"/>
            <a:ext cx="4014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Malware Detection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1"/>
          <p:cNvSpPr/>
          <p:nvPr/>
        </p:nvSpPr>
        <p:spPr>
          <a:xfrm>
            <a:off x="6575760" y="2697480"/>
            <a:ext cx="4746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AI analyzes files and behavior to identify potentially malicious software.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548640" y="4069080"/>
            <a:ext cx="5386320" cy="2148120"/>
          </a:xfrm>
          <a:prstGeom prst="roundRect">
            <a:avLst>
              <a:gd name="adj" fmla="val 3830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3"/>
          <p:cNvSpPr/>
          <p:nvPr/>
        </p:nvSpPr>
        <p:spPr>
          <a:xfrm>
            <a:off x="841320" y="4361760"/>
            <a:ext cx="639360" cy="6393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3" descr="preencoded.png"/>
          <p:cNvPicPr/>
          <p:nvPr/>
        </p:nvPicPr>
        <p:blipFill>
          <a:blip r:embed="rId4"/>
          <a:stretch/>
        </p:blipFill>
        <p:spPr>
          <a:xfrm>
            <a:off x="996840" y="451728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14"/>
          <p:cNvSpPr/>
          <p:nvPr/>
        </p:nvSpPr>
        <p:spPr>
          <a:xfrm>
            <a:off x="1645920" y="4380120"/>
            <a:ext cx="4014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Network Intrusion Detection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5"/>
          <p:cNvSpPr/>
          <p:nvPr/>
        </p:nvSpPr>
        <p:spPr>
          <a:xfrm>
            <a:off x="868680" y="5166360"/>
            <a:ext cx="4746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AI monitors network activity and identifies unusual or suspicious traffic patterns.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6"/>
          <p:cNvSpPr/>
          <p:nvPr/>
        </p:nvSpPr>
        <p:spPr>
          <a:xfrm>
            <a:off x="6255720" y="4069080"/>
            <a:ext cx="5386320" cy="2148120"/>
          </a:xfrm>
          <a:prstGeom prst="roundRect">
            <a:avLst>
              <a:gd name="adj" fmla="val 3830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7"/>
          <p:cNvSpPr/>
          <p:nvPr/>
        </p:nvSpPr>
        <p:spPr>
          <a:xfrm>
            <a:off x="6548400" y="4361760"/>
            <a:ext cx="639360" cy="6393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4" descr="preencoded.png"/>
          <p:cNvPicPr/>
          <p:nvPr/>
        </p:nvPicPr>
        <p:blipFill>
          <a:blip r:embed="rId5"/>
          <a:stretch/>
        </p:blipFill>
        <p:spPr>
          <a:xfrm>
            <a:off x="6703920" y="451728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18"/>
          <p:cNvSpPr/>
          <p:nvPr/>
        </p:nvSpPr>
        <p:spPr>
          <a:xfrm>
            <a:off x="7353000" y="4380120"/>
            <a:ext cx="4014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Fraud Detection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9"/>
          <p:cNvSpPr/>
          <p:nvPr/>
        </p:nvSpPr>
        <p:spPr>
          <a:xfrm>
            <a:off x="6575760" y="5166360"/>
            <a:ext cx="4746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AI identifies unusual transaction patterns that may indicate fraudulent activity.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 0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IN PRACTICE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"/>
          <p:cNvSpPr/>
          <p:nvPr/>
        </p:nvSpPr>
        <p:spPr>
          <a:xfrm>
            <a:off x="530280" y="676800"/>
            <a:ext cx="10789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AI Spots Something Unusual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548640" y="64738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1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AI IN CYBERSECURITY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"/>
          <p:cNvSpPr/>
          <p:nvPr/>
        </p:nvSpPr>
        <p:spPr>
          <a:xfrm>
            <a:off x="10728720" y="64738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08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"/>
          <p:cNvSpPr/>
          <p:nvPr/>
        </p:nvSpPr>
        <p:spPr>
          <a:xfrm>
            <a:off x="548640" y="1554480"/>
            <a:ext cx="2589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NORMAL ACTIVITY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5"/>
          <p:cNvSpPr/>
          <p:nvPr/>
        </p:nvSpPr>
        <p:spPr>
          <a:xfrm>
            <a:off x="3120840" y="1663920"/>
            <a:ext cx="255960" cy="360"/>
          </a:xfrm>
          <a:prstGeom prst="line">
            <a:avLst/>
          </a:prstGeom>
          <a:ln w="19050">
            <a:solidFill>
              <a:srgbClr val="22D3E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6"/>
          <p:cNvSpPr/>
          <p:nvPr/>
        </p:nvSpPr>
        <p:spPr>
          <a:xfrm>
            <a:off x="3322080" y="1554480"/>
            <a:ext cx="2589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AI MONITORING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7"/>
          <p:cNvSpPr/>
          <p:nvPr/>
        </p:nvSpPr>
        <p:spPr>
          <a:xfrm>
            <a:off x="5638680" y="1664280"/>
            <a:ext cx="255960" cy="360"/>
          </a:xfrm>
          <a:prstGeom prst="line">
            <a:avLst/>
          </a:prstGeom>
          <a:ln w="19050">
            <a:solidFill>
              <a:srgbClr val="22D3E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8"/>
          <p:cNvSpPr/>
          <p:nvPr/>
        </p:nvSpPr>
        <p:spPr>
          <a:xfrm>
            <a:off x="6095880" y="1554480"/>
            <a:ext cx="2589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UNUSUAL PATTERN DETECTED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9"/>
          <p:cNvSpPr/>
          <p:nvPr/>
        </p:nvSpPr>
        <p:spPr>
          <a:xfrm>
            <a:off x="8869320" y="1663560"/>
            <a:ext cx="255960" cy="360"/>
          </a:xfrm>
          <a:prstGeom prst="line">
            <a:avLst/>
          </a:prstGeom>
          <a:ln w="19050">
            <a:solidFill>
              <a:srgbClr val="22D3E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0"/>
          <p:cNvSpPr/>
          <p:nvPr/>
        </p:nvSpPr>
        <p:spPr>
          <a:xfrm>
            <a:off x="8869320" y="1554480"/>
            <a:ext cx="2589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FFB454"/>
                </a:solidFill>
                <a:effectLst/>
                <a:uFillTx/>
                <a:latin typeface="Calibri"/>
                <a:ea typeface="Calibri"/>
              </a:rPr>
              <a:t>SECURITY ALERT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1"/>
          <p:cNvSpPr/>
          <p:nvPr/>
        </p:nvSpPr>
        <p:spPr>
          <a:xfrm>
            <a:off x="548640" y="2057400"/>
            <a:ext cx="3514680" cy="3976920"/>
          </a:xfrm>
          <a:prstGeom prst="roundRect">
            <a:avLst>
              <a:gd name="adj" fmla="val 2341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1" descr="preencoded.png"/>
          <p:cNvPicPr/>
          <p:nvPr/>
        </p:nvPicPr>
        <p:blipFill>
          <a:blip r:embed="rId2"/>
          <a:stretch/>
        </p:blipFill>
        <p:spPr>
          <a:xfrm>
            <a:off x="822960" y="23317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12"/>
          <p:cNvSpPr/>
          <p:nvPr/>
        </p:nvSpPr>
        <p:spPr>
          <a:xfrm>
            <a:off x="1325880" y="2313360"/>
            <a:ext cx="2508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Normal Activity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3"/>
          <p:cNvSpPr/>
          <p:nvPr/>
        </p:nvSpPr>
        <p:spPr>
          <a:xfrm>
            <a:off x="841320" y="3026520"/>
            <a:ext cx="81720" cy="81720"/>
          </a:xfrm>
          <a:prstGeom prst="ellipse">
            <a:avLst/>
          </a:prstGeom>
          <a:solidFill>
            <a:srgbClr val="7C8C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13320" rIns="4104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4"/>
          <p:cNvSpPr/>
          <p:nvPr/>
        </p:nvSpPr>
        <p:spPr>
          <a:xfrm>
            <a:off x="1051560" y="2898720"/>
            <a:ext cx="2737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Regular login location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5"/>
          <p:cNvSpPr/>
          <p:nvPr/>
        </p:nvSpPr>
        <p:spPr>
          <a:xfrm>
            <a:off x="841320" y="3529440"/>
            <a:ext cx="81720" cy="81720"/>
          </a:xfrm>
          <a:prstGeom prst="ellipse">
            <a:avLst/>
          </a:prstGeom>
          <a:solidFill>
            <a:srgbClr val="7C8C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13320" rIns="4104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6"/>
          <p:cNvSpPr/>
          <p:nvPr/>
        </p:nvSpPr>
        <p:spPr>
          <a:xfrm>
            <a:off x="1051560" y="3401640"/>
            <a:ext cx="2737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Normal working hours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7"/>
          <p:cNvSpPr/>
          <p:nvPr/>
        </p:nvSpPr>
        <p:spPr>
          <a:xfrm>
            <a:off x="841320" y="4032360"/>
            <a:ext cx="81720" cy="81720"/>
          </a:xfrm>
          <a:prstGeom prst="ellipse">
            <a:avLst/>
          </a:prstGeom>
          <a:solidFill>
            <a:srgbClr val="7C8C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13320" rIns="4104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8"/>
          <p:cNvSpPr/>
          <p:nvPr/>
        </p:nvSpPr>
        <p:spPr>
          <a:xfrm>
            <a:off x="1051560" y="3904560"/>
            <a:ext cx="2737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Normal activity pattern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9"/>
          <p:cNvSpPr/>
          <p:nvPr/>
        </p:nvSpPr>
        <p:spPr>
          <a:xfrm>
            <a:off x="4338360" y="2057400"/>
            <a:ext cx="3514680" cy="3976920"/>
          </a:xfrm>
          <a:prstGeom prst="roundRect">
            <a:avLst>
              <a:gd name="adj" fmla="val 2341"/>
            </a:avLst>
          </a:prstGeom>
          <a:solidFill>
            <a:srgbClr val="0A1E26"/>
          </a:solidFill>
          <a:ln w="19050">
            <a:solidFill>
              <a:srgbClr val="22D3EE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0"/>
          <p:cNvSpPr/>
          <p:nvPr/>
        </p:nvSpPr>
        <p:spPr>
          <a:xfrm>
            <a:off x="5501520" y="2560320"/>
            <a:ext cx="1188000" cy="1188000"/>
          </a:xfrm>
          <a:prstGeom prst="ellipse">
            <a:avLst/>
          </a:prstGeom>
          <a:solidFill>
            <a:srgbClr val="0A1728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2" descr="preencoded.png"/>
          <p:cNvPicPr/>
          <p:nvPr/>
        </p:nvPicPr>
        <p:blipFill>
          <a:blip r:embed="rId3"/>
          <a:stretch/>
        </p:blipFill>
        <p:spPr>
          <a:xfrm>
            <a:off x="5730120" y="2788920"/>
            <a:ext cx="730800" cy="73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21"/>
          <p:cNvSpPr/>
          <p:nvPr/>
        </p:nvSpPr>
        <p:spPr>
          <a:xfrm>
            <a:off x="4521240" y="3931920"/>
            <a:ext cx="3148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AI ANALYSIS ENGINE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2"/>
          <p:cNvSpPr/>
          <p:nvPr/>
        </p:nvSpPr>
        <p:spPr>
          <a:xfrm>
            <a:off x="4658400" y="4389120"/>
            <a:ext cx="28746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701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Continuously compares live behavior against learned normal patterns in real time.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3"/>
          <p:cNvSpPr/>
          <p:nvPr/>
        </p:nvSpPr>
        <p:spPr>
          <a:xfrm>
            <a:off x="8127720" y="2057400"/>
            <a:ext cx="3514680" cy="3976920"/>
          </a:xfrm>
          <a:prstGeom prst="roundRect">
            <a:avLst>
              <a:gd name="adj" fmla="val 2341"/>
            </a:avLst>
          </a:prstGeom>
          <a:solidFill>
            <a:srgbClr val="241412"/>
          </a:solidFill>
          <a:ln w="15875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 3" descr="preencoded.png"/>
          <p:cNvPicPr/>
          <p:nvPr/>
        </p:nvPicPr>
        <p:blipFill>
          <a:blip r:embed="rId4"/>
          <a:stretch/>
        </p:blipFill>
        <p:spPr>
          <a:xfrm>
            <a:off x="8402040" y="23317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Text 24"/>
          <p:cNvSpPr/>
          <p:nvPr/>
        </p:nvSpPr>
        <p:spPr>
          <a:xfrm>
            <a:off x="8904960" y="2313360"/>
            <a:ext cx="2508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Unusual Pattern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5"/>
          <p:cNvSpPr/>
          <p:nvPr/>
        </p:nvSpPr>
        <p:spPr>
          <a:xfrm>
            <a:off x="8420400" y="3026520"/>
            <a:ext cx="81720" cy="8172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13320" rIns="4104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6"/>
          <p:cNvSpPr/>
          <p:nvPr/>
        </p:nvSpPr>
        <p:spPr>
          <a:xfrm>
            <a:off x="8630640" y="2898720"/>
            <a:ext cx="2737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Unusual login location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7"/>
          <p:cNvSpPr/>
          <p:nvPr/>
        </p:nvSpPr>
        <p:spPr>
          <a:xfrm>
            <a:off x="8420400" y="3529440"/>
            <a:ext cx="81720" cy="8172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13320" rIns="4104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8"/>
          <p:cNvSpPr/>
          <p:nvPr/>
        </p:nvSpPr>
        <p:spPr>
          <a:xfrm>
            <a:off x="8630640" y="3401640"/>
            <a:ext cx="2737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Unusual time of access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9"/>
          <p:cNvSpPr/>
          <p:nvPr/>
        </p:nvSpPr>
        <p:spPr>
          <a:xfrm>
            <a:off x="8420400" y="4032360"/>
            <a:ext cx="81720" cy="8172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13320" rIns="4104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0"/>
          <p:cNvSpPr/>
          <p:nvPr/>
        </p:nvSpPr>
        <p:spPr>
          <a:xfrm>
            <a:off x="8630640" y="3904560"/>
            <a:ext cx="2737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Multiple failed attempts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1"/>
          <p:cNvSpPr/>
          <p:nvPr/>
        </p:nvSpPr>
        <p:spPr>
          <a:xfrm>
            <a:off x="8420400" y="4535280"/>
            <a:ext cx="81720" cy="8172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13320" rIns="4104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2"/>
          <p:cNvSpPr/>
          <p:nvPr/>
        </p:nvSpPr>
        <p:spPr>
          <a:xfrm>
            <a:off x="8630640" y="4407480"/>
            <a:ext cx="2737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Abnormal activity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33"/>
          <p:cNvSpPr/>
          <p:nvPr/>
        </p:nvSpPr>
        <p:spPr>
          <a:xfrm>
            <a:off x="8402040" y="5440680"/>
            <a:ext cx="2966040" cy="383400"/>
          </a:xfrm>
          <a:prstGeom prst="roundRect">
            <a:avLst>
              <a:gd name="adj" fmla="val 50000"/>
            </a:avLst>
          </a:prstGeom>
          <a:solidFill>
            <a:srgbClr val="3A1414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4"/>
          <p:cNvSpPr/>
          <p:nvPr/>
        </p:nvSpPr>
        <p:spPr>
          <a:xfrm>
            <a:off x="8402040" y="5440680"/>
            <a:ext cx="2966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99" strike="noStrike">
                <a:solidFill>
                  <a:srgbClr val="FF6B6B"/>
                </a:solidFill>
                <a:effectLst/>
                <a:uFillTx/>
                <a:latin typeface="Calibri"/>
                <a:ea typeface="Calibri"/>
              </a:rPr>
              <a:t>SECURITY ALERT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5"/>
          <p:cNvSpPr/>
          <p:nvPr/>
        </p:nvSpPr>
        <p:spPr>
          <a:xfrm>
            <a:off x="548640" y="6199560"/>
            <a:ext cx="11063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AI helps security systems focus attention on behavior that looks </a:t>
            </a:r>
            <a:r>
              <a:rPr lang="en-US" sz="1400" b="1" i="1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different from normal.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split dir="in" orient="horz"/>
      </p:transition>
    </mc:Choice>
    <mc:Fallback>
      <p:transition spd="slow">
        <p:split dir="in" orient="horz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0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EVALUATION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"/>
          <p:cNvSpPr/>
          <p:nvPr/>
        </p:nvSpPr>
        <p:spPr>
          <a:xfrm>
            <a:off x="530280" y="676800"/>
            <a:ext cx="10789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AI in Cybersecurity: Benefits &amp; Challenges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"/>
          <p:cNvSpPr/>
          <p:nvPr/>
        </p:nvSpPr>
        <p:spPr>
          <a:xfrm>
            <a:off x="548640" y="64738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1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AI IN CYBERSECURITY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"/>
          <p:cNvSpPr/>
          <p:nvPr/>
        </p:nvSpPr>
        <p:spPr>
          <a:xfrm>
            <a:off x="10728720" y="64738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C8CA6"/>
                </a:solidFill>
                <a:effectLst/>
                <a:uFillTx/>
                <a:latin typeface="Calibri"/>
                <a:ea typeface="Calibri"/>
              </a:rPr>
              <a:t>09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4"/>
          <p:cNvSpPr/>
          <p:nvPr/>
        </p:nvSpPr>
        <p:spPr>
          <a:xfrm>
            <a:off x="548640" y="1600200"/>
            <a:ext cx="5386320" cy="4159800"/>
          </a:xfrm>
          <a:prstGeom prst="roundRect">
            <a:avLst>
              <a:gd name="adj" fmla="val 1978"/>
            </a:avLst>
          </a:prstGeom>
          <a:solidFill>
            <a:srgbClr val="0A1E26"/>
          </a:solidFill>
          <a:ln w="15875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5"/>
          <p:cNvSpPr/>
          <p:nvPr/>
        </p:nvSpPr>
        <p:spPr>
          <a:xfrm>
            <a:off x="914400" y="1874520"/>
            <a:ext cx="465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201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BENEFITS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6"/>
          <p:cNvSpPr/>
          <p:nvPr/>
        </p:nvSpPr>
        <p:spPr>
          <a:xfrm>
            <a:off x="914400" y="2468880"/>
            <a:ext cx="365040" cy="3650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1" descr="preencoded.png"/>
          <p:cNvPicPr/>
          <p:nvPr/>
        </p:nvPicPr>
        <p:blipFill>
          <a:blip r:embed="rId2"/>
          <a:stretch/>
        </p:blipFill>
        <p:spPr>
          <a:xfrm>
            <a:off x="987480" y="254196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7"/>
          <p:cNvSpPr/>
          <p:nvPr/>
        </p:nvSpPr>
        <p:spPr>
          <a:xfrm>
            <a:off x="1444680" y="2414160"/>
            <a:ext cx="419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Faster Threat Detection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8"/>
          <p:cNvSpPr/>
          <p:nvPr/>
        </p:nvSpPr>
        <p:spPr>
          <a:xfrm>
            <a:off x="914400" y="3090600"/>
            <a:ext cx="365040" cy="3650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 2" descr="preencoded.png"/>
          <p:cNvPicPr/>
          <p:nvPr/>
        </p:nvPicPr>
        <p:blipFill>
          <a:blip r:embed="rId3"/>
          <a:stretch/>
        </p:blipFill>
        <p:spPr>
          <a:xfrm>
            <a:off x="987480" y="316368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9"/>
          <p:cNvSpPr/>
          <p:nvPr/>
        </p:nvSpPr>
        <p:spPr>
          <a:xfrm>
            <a:off x="1444680" y="3035880"/>
            <a:ext cx="419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Continuous Monitoring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0"/>
          <p:cNvSpPr/>
          <p:nvPr/>
        </p:nvSpPr>
        <p:spPr>
          <a:xfrm>
            <a:off x="914400" y="3712320"/>
            <a:ext cx="365040" cy="3650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3" name="Image 3" descr="preencoded.png"/>
          <p:cNvPicPr/>
          <p:nvPr/>
        </p:nvPicPr>
        <p:blipFill>
          <a:blip r:embed="rId4"/>
          <a:stretch/>
        </p:blipFill>
        <p:spPr>
          <a:xfrm>
            <a:off x="987480" y="378576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 11"/>
          <p:cNvSpPr/>
          <p:nvPr/>
        </p:nvSpPr>
        <p:spPr>
          <a:xfrm>
            <a:off x="1444680" y="3657600"/>
            <a:ext cx="419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Large-Scale Data Analysis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2"/>
          <p:cNvSpPr/>
          <p:nvPr/>
        </p:nvSpPr>
        <p:spPr>
          <a:xfrm>
            <a:off x="914400" y="4334400"/>
            <a:ext cx="365040" cy="3650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 4" descr="preencoded.png"/>
          <p:cNvPicPr/>
          <p:nvPr/>
        </p:nvPicPr>
        <p:blipFill>
          <a:blip r:embed="rId5"/>
          <a:stretch/>
        </p:blipFill>
        <p:spPr>
          <a:xfrm>
            <a:off x="987480" y="440748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 13"/>
          <p:cNvSpPr/>
          <p:nvPr/>
        </p:nvSpPr>
        <p:spPr>
          <a:xfrm>
            <a:off x="1444680" y="4279320"/>
            <a:ext cx="419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Anomaly Detection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4"/>
          <p:cNvSpPr/>
          <p:nvPr/>
        </p:nvSpPr>
        <p:spPr>
          <a:xfrm>
            <a:off x="914400" y="4956120"/>
            <a:ext cx="365040" cy="3650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9" name="Image 5" descr="preencoded.png"/>
          <p:cNvPicPr/>
          <p:nvPr/>
        </p:nvPicPr>
        <p:blipFill>
          <a:blip r:embed="rId6"/>
          <a:stretch/>
        </p:blipFill>
        <p:spPr>
          <a:xfrm>
            <a:off x="987480" y="502920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 15"/>
          <p:cNvSpPr/>
          <p:nvPr/>
        </p:nvSpPr>
        <p:spPr>
          <a:xfrm>
            <a:off x="1444680" y="4901040"/>
            <a:ext cx="419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Helps Teams Prioritize Alerts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6"/>
          <p:cNvSpPr/>
          <p:nvPr/>
        </p:nvSpPr>
        <p:spPr>
          <a:xfrm>
            <a:off x="6255720" y="1600200"/>
            <a:ext cx="5386320" cy="4159800"/>
          </a:xfrm>
          <a:prstGeom prst="roundRect">
            <a:avLst>
              <a:gd name="adj" fmla="val 1978"/>
            </a:avLst>
          </a:prstGeom>
          <a:solidFill>
            <a:srgbClr val="241C0F"/>
          </a:solidFill>
          <a:ln w="15875">
            <a:solidFill>
              <a:srgbClr val="FFB4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7"/>
          <p:cNvSpPr/>
          <p:nvPr/>
        </p:nvSpPr>
        <p:spPr>
          <a:xfrm>
            <a:off x="6621480" y="1874520"/>
            <a:ext cx="465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201" strike="noStrike">
                <a:solidFill>
                  <a:srgbClr val="FFB454"/>
                </a:solidFill>
                <a:effectLst/>
                <a:uFillTx/>
                <a:latin typeface="Calibri"/>
                <a:ea typeface="Calibri"/>
              </a:rPr>
              <a:t>CHALLENGES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8"/>
          <p:cNvSpPr/>
          <p:nvPr/>
        </p:nvSpPr>
        <p:spPr>
          <a:xfrm>
            <a:off x="6621480" y="2468880"/>
            <a:ext cx="365040" cy="365040"/>
          </a:xfrm>
          <a:prstGeom prst="ellipse">
            <a:avLst/>
          </a:prstGeom>
          <a:solidFill>
            <a:srgbClr val="FFB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Image 6" descr="preencoded.png"/>
          <p:cNvPicPr/>
          <p:nvPr/>
        </p:nvPicPr>
        <p:blipFill>
          <a:blip r:embed="rId7"/>
          <a:stretch/>
        </p:blipFill>
        <p:spPr>
          <a:xfrm>
            <a:off x="6694920" y="254196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Text 19"/>
          <p:cNvSpPr/>
          <p:nvPr/>
        </p:nvSpPr>
        <p:spPr>
          <a:xfrm>
            <a:off x="7152120" y="2414160"/>
            <a:ext cx="419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False Positives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0"/>
          <p:cNvSpPr/>
          <p:nvPr/>
        </p:nvSpPr>
        <p:spPr>
          <a:xfrm>
            <a:off x="6621480" y="3090600"/>
            <a:ext cx="365040" cy="365040"/>
          </a:xfrm>
          <a:prstGeom prst="ellipse">
            <a:avLst/>
          </a:prstGeom>
          <a:solidFill>
            <a:srgbClr val="FFB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Image 7" descr="preencoded.png"/>
          <p:cNvPicPr/>
          <p:nvPr/>
        </p:nvPicPr>
        <p:blipFill>
          <a:blip r:embed="rId8"/>
          <a:stretch/>
        </p:blipFill>
        <p:spPr>
          <a:xfrm>
            <a:off x="6694920" y="316368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 21"/>
          <p:cNvSpPr/>
          <p:nvPr/>
        </p:nvSpPr>
        <p:spPr>
          <a:xfrm>
            <a:off x="7152120" y="3035880"/>
            <a:ext cx="419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Requires Quality Data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2"/>
          <p:cNvSpPr/>
          <p:nvPr/>
        </p:nvSpPr>
        <p:spPr>
          <a:xfrm>
            <a:off x="6621480" y="3712320"/>
            <a:ext cx="365040" cy="365040"/>
          </a:xfrm>
          <a:prstGeom prst="ellipse">
            <a:avLst/>
          </a:prstGeom>
          <a:solidFill>
            <a:srgbClr val="FFB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Image 8" descr="preencoded.png"/>
          <p:cNvPicPr/>
          <p:nvPr/>
        </p:nvPicPr>
        <p:blipFill>
          <a:blip r:embed="rId9"/>
          <a:stretch/>
        </p:blipFill>
        <p:spPr>
          <a:xfrm>
            <a:off x="6694920" y="378576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 23"/>
          <p:cNvSpPr/>
          <p:nvPr/>
        </p:nvSpPr>
        <p:spPr>
          <a:xfrm>
            <a:off x="7152120" y="3657600"/>
            <a:ext cx="419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Attackers Can Also Use AI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4"/>
          <p:cNvSpPr/>
          <p:nvPr/>
        </p:nvSpPr>
        <p:spPr>
          <a:xfrm>
            <a:off x="6621480" y="4334400"/>
            <a:ext cx="365040" cy="365040"/>
          </a:xfrm>
          <a:prstGeom prst="ellipse">
            <a:avLst/>
          </a:prstGeom>
          <a:solidFill>
            <a:srgbClr val="FFB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Image 9" descr="preencoded.png"/>
          <p:cNvPicPr/>
          <p:nvPr/>
        </p:nvPicPr>
        <p:blipFill>
          <a:blip r:embed="rId10"/>
          <a:stretch/>
        </p:blipFill>
        <p:spPr>
          <a:xfrm>
            <a:off x="6694920" y="440748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Text 25"/>
          <p:cNvSpPr/>
          <p:nvPr/>
        </p:nvSpPr>
        <p:spPr>
          <a:xfrm>
            <a:off x="7152120" y="4279320"/>
            <a:ext cx="419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Privacy Concerns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6"/>
          <p:cNvSpPr/>
          <p:nvPr/>
        </p:nvSpPr>
        <p:spPr>
          <a:xfrm>
            <a:off x="6621480" y="4956120"/>
            <a:ext cx="365040" cy="365040"/>
          </a:xfrm>
          <a:prstGeom prst="ellipse">
            <a:avLst/>
          </a:prstGeom>
          <a:solidFill>
            <a:srgbClr val="FFB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Image 10" descr="preencoded.png"/>
          <p:cNvPicPr/>
          <p:nvPr/>
        </p:nvPicPr>
        <p:blipFill>
          <a:blip r:embed="rId11"/>
          <a:stretch/>
        </p:blipFill>
        <p:spPr>
          <a:xfrm>
            <a:off x="6694920" y="502920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Text 27"/>
          <p:cNvSpPr/>
          <p:nvPr/>
        </p:nvSpPr>
        <p:spPr>
          <a:xfrm>
            <a:off x="7152120" y="4901040"/>
            <a:ext cx="419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Human Expertise Still Needed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8"/>
          <p:cNvSpPr/>
          <p:nvPr/>
        </p:nvSpPr>
        <p:spPr>
          <a:xfrm>
            <a:off x="548640" y="5925240"/>
            <a:ext cx="11063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i="1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AI supports cybersecurity professionals — </a:t>
            </a:r>
            <a:r>
              <a:rPr lang="en-US" sz="1450" b="0" i="1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it does not eliminate the need for human judgment.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Image 1" descr="preencoded.png"/>
          <p:cNvPicPr/>
          <p:nvPr/>
        </p:nvPicPr>
        <p:blipFill>
          <a:blip r:embed="rId2"/>
          <a:stretch/>
        </p:blipFill>
        <p:spPr>
          <a:xfrm>
            <a:off x="7818120" y="-548640"/>
            <a:ext cx="4937040" cy="493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Text 0"/>
          <p:cNvSpPr/>
          <p:nvPr/>
        </p:nvSpPr>
        <p:spPr>
          <a:xfrm>
            <a:off x="548640" y="38412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THE FUTURE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530280" y="676800"/>
            <a:ext cx="10789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The Future of AI in Cybersecurity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548640" y="1554480"/>
            <a:ext cx="69487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As cyber threats grow more advanced, AI will play an increasingly important role in helping organizations detect and respond to suspicious activity.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548640" y="2606040"/>
            <a:ext cx="3336840" cy="867960"/>
          </a:xfrm>
          <a:prstGeom prst="roundRect">
            <a:avLst>
              <a:gd name="adj" fmla="val 9474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4"/>
          <p:cNvSpPr/>
          <p:nvPr/>
        </p:nvSpPr>
        <p:spPr>
          <a:xfrm>
            <a:off x="749880" y="2820960"/>
            <a:ext cx="438120" cy="43812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6" name="Image 2" descr="preencoded.png"/>
          <p:cNvPicPr/>
          <p:nvPr/>
        </p:nvPicPr>
        <p:blipFill>
          <a:blip r:embed="rId3"/>
          <a:stretch/>
        </p:blipFill>
        <p:spPr>
          <a:xfrm>
            <a:off x="850320" y="292140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Text 5"/>
          <p:cNvSpPr/>
          <p:nvPr/>
        </p:nvSpPr>
        <p:spPr>
          <a:xfrm>
            <a:off x="1298520" y="2606040"/>
            <a:ext cx="242244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Smarter Threat Detection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6"/>
          <p:cNvSpPr/>
          <p:nvPr/>
        </p:nvSpPr>
        <p:spPr>
          <a:xfrm>
            <a:off x="4160520" y="2606040"/>
            <a:ext cx="3336840" cy="867960"/>
          </a:xfrm>
          <a:prstGeom prst="roundRect">
            <a:avLst>
              <a:gd name="adj" fmla="val 9474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7"/>
          <p:cNvSpPr/>
          <p:nvPr/>
        </p:nvSpPr>
        <p:spPr>
          <a:xfrm>
            <a:off x="4361760" y="2820960"/>
            <a:ext cx="438120" cy="43812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0" name="Image 3" descr="preencoded.png"/>
          <p:cNvPicPr/>
          <p:nvPr/>
        </p:nvPicPr>
        <p:blipFill>
          <a:blip r:embed="rId4"/>
          <a:stretch/>
        </p:blipFill>
        <p:spPr>
          <a:xfrm>
            <a:off x="4462200" y="292140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Text 8"/>
          <p:cNvSpPr/>
          <p:nvPr/>
        </p:nvSpPr>
        <p:spPr>
          <a:xfrm>
            <a:off x="4910400" y="2606040"/>
            <a:ext cx="242244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Faster Security Analysis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9"/>
          <p:cNvSpPr/>
          <p:nvPr/>
        </p:nvSpPr>
        <p:spPr>
          <a:xfrm>
            <a:off x="548640" y="3666600"/>
            <a:ext cx="3336840" cy="867960"/>
          </a:xfrm>
          <a:prstGeom prst="roundRect">
            <a:avLst>
              <a:gd name="adj" fmla="val 9474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0"/>
          <p:cNvSpPr/>
          <p:nvPr/>
        </p:nvSpPr>
        <p:spPr>
          <a:xfrm>
            <a:off x="749880" y="3881520"/>
            <a:ext cx="438120" cy="43812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4" descr="preencoded.png"/>
          <p:cNvPicPr/>
          <p:nvPr/>
        </p:nvPicPr>
        <p:blipFill>
          <a:blip r:embed="rId5"/>
          <a:stretch/>
        </p:blipFill>
        <p:spPr>
          <a:xfrm>
            <a:off x="850320" y="398232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11"/>
          <p:cNvSpPr/>
          <p:nvPr/>
        </p:nvSpPr>
        <p:spPr>
          <a:xfrm>
            <a:off x="1298520" y="3666600"/>
            <a:ext cx="242244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More Automated Response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2"/>
          <p:cNvSpPr/>
          <p:nvPr/>
        </p:nvSpPr>
        <p:spPr>
          <a:xfrm>
            <a:off x="4160520" y="3666600"/>
            <a:ext cx="3336840" cy="867960"/>
          </a:xfrm>
          <a:prstGeom prst="roundRect">
            <a:avLst>
              <a:gd name="adj" fmla="val 9474"/>
            </a:avLst>
          </a:prstGeom>
          <a:solidFill>
            <a:srgbClr val="0C1424"/>
          </a:solidFill>
          <a:ln w="12700">
            <a:solidFill>
              <a:srgbClr val="162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3"/>
          <p:cNvSpPr/>
          <p:nvPr/>
        </p:nvSpPr>
        <p:spPr>
          <a:xfrm>
            <a:off x="4361760" y="3881520"/>
            <a:ext cx="438120" cy="43812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Image 5" descr="preencoded.png"/>
          <p:cNvPicPr/>
          <p:nvPr/>
        </p:nvPicPr>
        <p:blipFill>
          <a:blip r:embed="rId6"/>
          <a:stretch/>
        </p:blipFill>
        <p:spPr>
          <a:xfrm>
            <a:off x="4462200" y="398232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Text 14"/>
          <p:cNvSpPr/>
          <p:nvPr/>
        </p:nvSpPr>
        <p:spPr>
          <a:xfrm>
            <a:off x="4910400" y="3666600"/>
            <a:ext cx="242244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Human + AI Collaboration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5"/>
          <p:cNvSpPr/>
          <p:nvPr/>
        </p:nvSpPr>
        <p:spPr>
          <a:xfrm>
            <a:off x="548640" y="4709160"/>
            <a:ext cx="11093760" cy="1050840"/>
          </a:xfrm>
          <a:prstGeom prst="roundRect">
            <a:avLst>
              <a:gd name="adj" fmla="val 7826"/>
            </a:avLst>
          </a:prstGeom>
          <a:solidFill>
            <a:srgbClr val="0A1E26"/>
          </a:solidFill>
          <a:ln w="15875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6"/>
          <p:cNvSpPr/>
          <p:nvPr/>
        </p:nvSpPr>
        <p:spPr>
          <a:xfrm>
            <a:off x="914400" y="4709160"/>
            <a:ext cx="1036224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"AI is becoming a powerful tool for detecting cyber threats, but the strongest cybersecurity combines </a:t>
            </a:r>
            <a:r>
              <a:rPr lang="en-US" sz="1500" b="1" i="1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intelligent technology with human expertise.</a:t>
            </a:r>
            <a:r>
              <a:rPr lang="en-US" sz="1500" b="0" i="1" u="none" strike="noStrike">
                <a:solidFill>
                  <a:srgbClr val="AAB8CC"/>
                </a:solidFill>
                <a:effectLst/>
                <a:uFillTx/>
                <a:latin typeface="Calibri"/>
                <a:ea typeface="Calibri"/>
              </a:rPr>
              <a:t>"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7"/>
          <p:cNvSpPr/>
          <p:nvPr/>
        </p:nvSpPr>
        <p:spPr>
          <a:xfrm>
            <a:off x="548640" y="5989320"/>
            <a:ext cx="6948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201" strike="noStrike">
                <a:solidFill>
                  <a:srgbClr val="F4F7FB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8"/>
          <p:cNvSpPr/>
          <p:nvPr/>
        </p:nvSpPr>
        <p:spPr>
          <a:xfrm>
            <a:off x="548640" y="6473880"/>
            <a:ext cx="6948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Questions?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LibreOffice/26.2.5.2$Linux_X86_64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2026-09-01T18:20:08Z</dcterms:created>
  <dc:creator>PptxGenJS</dc:creator>
  <dc:description/>
  <dc:language>en-US</dc:language>
  <cp:lastModifiedBy/>
  <dcterms:modified xsi:type="dcterms:W3CDTF">2026-09-01T23:30:59Z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